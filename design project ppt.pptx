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7" r:id="rId13"/>
    <p:sldId id="268" r:id="rId14"/>
    <p:sldId id="269" r:id="rId15"/>
    <p:sldId id="272" r:id="rId16"/>
    <p:sldId id="273" r:id="rId17"/>
    <p:sldId id="270" r:id="rId18"/>
    <p:sldId id="271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644525">
              <a:lnSpc>
                <a:spcPts val="1240"/>
              </a:lnSpc>
            </a:pPr>
            <a:r>
              <a:rPr dirty="0"/>
              <a:t>SECOND</a:t>
            </a:r>
            <a:r>
              <a:rPr spc="75" dirty="0"/>
              <a:t> </a:t>
            </a:r>
            <a:r>
              <a:rPr dirty="0"/>
              <a:t>REVIEW-</a:t>
            </a:r>
            <a:r>
              <a:rPr spc="75" dirty="0"/>
              <a:t> </a:t>
            </a:r>
            <a:r>
              <a:rPr spc="-10" dirty="0"/>
              <a:t>BATCH</a:t>
            </a:r>
            <a:r>
              <a:rPr spc="85" dirty="0"/>
              <a:t> </a:t>
            </a:r>
            <a:r>
              <a:rPr spc="-20" dirty="0"/>
              <a:t>NO</a:t>
            </a:r>
            <a:r>
              <a:rPr spc="-20" dirty="0">
                <a:solidFill>
                  <a:srgbClr val="000000"/>
                </a:solidFill>
              </a:rPr>
              <a:t>:</a:t>
            </a:r>
            <a:r>
              <a:rPr spc="-20" dirty="0"/>
              <a:t>04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644525">
              <a:lnSpc>
                <a:spcPts val="1240"/>
              </a:lnSpc>
            </a:pPr>
            <a:r>
              <a:rPr dirty="0"/>
              <a:t>SECOND</a:t>
            </a:r>
            <a:r>
              <a:rPr spc="75" dirty="0"/>
              <a:t> </a:t>
            </a:r>
            <a:r>
              <a:rPr dirty="0"/>
              <a:t>REVIEW-</a:t>
            </a:r>
            <a:r>
              <a:rPr spc="75" dirty="0"/>
              <a:t> </a:t>
            </a:r>
            <a:r>
              <a:rPr spc="-10" dirty="0"/>
              <a:t>BATCH</a:t>
            </a:r>
            <a:r>
              <a:rPr spc="85" dirty="0"/>
              <a:t> </a:t>
            </a:r>
            <a:r>
              <a:rPr spc="-20" dirty="0"/>
              <a:t>NO</a:t>
            </a:r>
            <a:r>
              <a:rPr spc="-20" dirty="0">
                <a:solidFill>
                  <a:srgbClr val="000000"/>
                </a:solidFill>
              </a:rPr>
              <a:t>:</a:t>
            </a:r>
            <a:r>
              <a:rPr spc="-20" dirty="0"/>
              <a:t>04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644525">
              <a:lnSpc>
                <a:spcPts val="1240"/>
              </a:lnSpc>
            </a:pPr>
            <a:r>
              <a:rPr dirty="0"/>
              <a:t>SECOND</a:t>
            </a:r>
            <a:r>
              <a:rPr spc="75" dirty="0"/>
              <a:t> </a:t>
            </a:r>
            <a:r>
              <a:rPr dirty="0"/>
              <a:t>REVIEW-</a:t>
            </a:r>
            <a:r>
              <a:rPr spc="75" dirty="0"/>
              <a:t> </a:t>
            </a:r>
            <a:r>
              <a:rPr spc="-10" dirty="0"/>
              <a:t>BATCH</a:t>
            </a:r>
            <a:r>
              <a:rPr spc="85" dirty="0"/>
              <a:t> </a:t>
            </a:r>
            <a:r>
              <a:rPr spc="-20" dirty="0"/>
              <a:t>NO</a:t>
            </a:r>
            <a:r>
              <a:rPr spc="-20" dirty="0">
                <a:solidFill>
                  <a:srgbClr val="000000"/>
                </a:solidFill>
              </a:rPr>
              <a:t>:</a:t>
            </a:r>
            <a:r>
              <a:rPr spc="-20" dirty="0"/>
              <a:t>04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644525">
              <a:lnSpc>
                <a:spcPts val="1240"/>
              </a:lnSpc>
            </a:pPr>
            <a:r>
              <a:rPr dirty="0"/>
              <a:t>SECOND</a:t>
            </a:r>
            <a:r>
              <a:rPr spc="75" dirty="0"/>
              <a:t> </a:t>
            </a:r>
            <a:r>
              <a:rPr dirty="0"/>
              <a:t>REVIEW-</a:t>
            </a:r>
            <a:r>
              <a:rPr spc="75" dirty="0"/>
              <a:t> </a:t>
            </a:r>
            <a:r>
              <a:rPr spc="-10" dirty="0"/>
              <a:t>BATCH</a:t>
            </a:r>
            <a:r>
              <a:rPr spc="85" dirty="0"/>
              <a:t> </a:t>
            </a:r>
            <a:r>
              <a:rPr spc="-20" dirty="0"/>
              <a:t>NO</a:t>
            </a:r>
            <a:r>
              <a:rPr spc="-20" dirty="0">
                <a:solidFill>
                  <a:srgbClr val="000000"/>
                </a:solidFill>
              </a:rPr>
              <a:t>:</a:t>
            </a:r>
            <a:r>
              <a:rPr spc="-20" dirty="0"/>
              <a:t>04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644525">
              <a:lnSpc>
                <a:spcPts val="1240"/>
              </a:lnSpc>
            </a:pPr>
            <a:r>
              <a:rPr dirty="0"/>
              <a:t>SECOND</a:t>
            </a:r>
            <a:r>
              <a:rPr spc="75" dirty="0"/>
              <a:t> </a:t>
            </a:r>
            <a:r>
              <a:rPr dirty="0"/>
              <a:t>REVIEW-</a:t>
            </a:r>
            <a:r>
              <a:rPr spc="75" dirty="0"/>
              <a:t> </a:t>
            </a:r>
            <a:r>
              <a:rPr spc="-10" dirty="0"/>
              <a:t>BATCH</a:t>
            </a:r>
            <a:r>
              <a:rPr spc="85" dirty="0"/>
              <a:t> </a:t>
            </a:r>
            <a:r>
              <a:rPr spc="-20" dirty="0"/>
              <a:t>NO</a:t>
            </a:r>
            <a:r>
              <a:rPr spc="-20" dirty="0">
                <a:solidFill>
                  <a:srgbClr val="000000"/>
                </a:solidFill>
              </a:rPr>
              <a:t>:</a:t>
            </a:r>
            <a:r>
              <a:rPr spc="-20" dirty="0"/>
              <a:t>04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5154" y="116992"/>
            <a:ext cx="8441690" cy="805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9564" y="1794230"/>
            <a:ext cx="10932871" cy="276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64785" y="6437782"/>
            <a:ext cx="2726563" cy="236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644525">
              <a:lnSpc>
                <a:spcPts val="1240"/>
              </a:lnSpc>
            </a:pPr>
            <a:r>
              <a:rPr dirty="0"/>
              <a:t>SECOND</a:t>
            </a:r>
            <a:r>
              <a:rPr spc="75" dirty="0"/>
              <a:t> </a:t>
            </a:r>
            <a:r>
              <a:rPr dirty="0"/>
              <a:t>REVIEW-</a:t>
            </a:r>
            <a:r>
              <a:rPr spc="75" dirty="0"/>
              <a:t> </a:t>
            </a:r>
            <a:r>
              <a:rPr spc="-10" dirty="0"/>
              <a:t>BATCH</a:t>
            </a:r>
            <a:r>
              <a:rPr spc="85" dirty="0"/>
              <a:t> </a:t>
            </a:r>
            <a:r>
              <a:rPr spc="-20" dirty="0"/>
              <a:t>NO</a:t>
            </a:r>
            <a:r>
              <a:rPr spc="-20" dirty="0">
                <a:solidFill>
                  <a:srgbClr val="000000"/>
                </a:solidFill>
              </a:rPr>
              <a:t>:</a:t>
            </a:r>
            <a:r>
              <a:rPr spc="-20" dirty="0"/>
              <a:t>04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47704"/>
            <a:ext cx="244475" cy="1954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344517"/>
            <a:ext cx="2930525" cy="194627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40"/>
              </a:spcBef>
              <a:buFont typeface="Times New Roman"/>
              <a:buAutoNum type="arabicPeriod"/>
              <a:tabLst>
                <a:tab pos="35560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KANISHKA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(927623BEC101)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35560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KANISHKA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(927623BEC102)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35560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KANISHKAA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(927623BEC103)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355600" algn="l"/>
              </a:tabLst>
            </a:pPr>
            <a:r>
              <a:rPr sz="1400" b="1" spc="-75" dirty="0">
                <a:latin typeface="Times New Roman"/>
                <a:cs typeface="Times New Roman"/>
              </a:rPr>
              <a:t>KAVYA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</a:t>
            </a:r>
            <a:r>
              <a:rPr sz="1400" b="1" spc="-10" dirty="0">
                <a:latin typeface="Times New Roman"/>
                <a:cs typeface="Times New Roman"/>
              </a:rPr>
              <a:t> (927623BEC111)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35560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KIRUBA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(927623BEC112)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355600" algn="l"/>
              </a:tabLst>
            </a:pPr>
            <a:r>
              <a:rPr sz="1400" b="1" spc="-85" dirty="0">
                <a:latin typeface="Times New Roman"/>
                <a:cs typeface="Times New Roman"/>
              </a:rPr>
              <a:t>LAVANYA</a:t>
            </a:r>
            <a:r>
              <a:rPr sz="1400" b="1" spc="-11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(927623BEC122)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8385" y="1378407"/>
            <a:ext cx="10803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DEPARTMENT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ELECTRONICS</a:t>
            </a:r>
            <a:r>
              <a:rPr sz="24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COMMUNICATION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8" y="1757527"/>
            <a:ext cx="10098263" cy="249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8725" marR="2816860" indent="-196850" algn="ctr">
              <a:lnSpc>
                <a:spcPct val="150000"/>
              </a:lnSpc>
              <a:spcBef>
                <a:spcPts val="100"/>
              </a:spcBef>
            </a:pPr>
            <a:r>
              <a:rPr lang="en-IN" sz="2000" b="1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ECB1332</a:t>
            </a:r>
            <a:r>
              <a:rPr lang="en-IN" sz="2000" b="1" dirty="0">
                <a:latin typeface="Times New Roman"/>
                <a:cs typeface="Times New Roman"/>
              </a:rPr>
              <a:t> -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PROJECT</a:t>
            </a:r>
            <a:r>
              <a:rPr lang="en-IN" sz="2000" b="1" spc="-10" dirty="0">
                <a:latin typeface="Times New Roman"/>
                <a:cs typeface="Times New Roman"/>
              </a:rPr>
              <a:t> END SEMESTER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REVIEW</a:t>
            </a:r>
            <a:r>
              <a:rPr lang="en-IN"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00"/>
                </a:solidFill>
                <a:latin typeface="Times New Roman"/>
                <a:cs typeface="Times New Roman"/>
              </a:rPr>
              <a:t>DATE:</a:t>
            </a:r>
            <a:r>
              <a:rPr sz="2000" b="1" spc="-80" dirty="0">
                <a:solidFill>
                  <a:srgbClr val="00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00"/>
                </a:solidFill>
                <a:latin typeface="Times New Roman"/>
                <a:cs typeface="Times New Roman"/>
              </a:rPr>
              <a:t>0</a:t>
            </a:r>
            <a:r>
              <a:rPr lang="en-IN" sz="2000" b="1" spc="-10" dirty="0">
                <a:solidFill>
                  <a:srgbClr val="003300"/>
                </a:solidFill>
                <a:latin typeface="Times New Roman"/>
                <a:cs typeface="Times New Roman"/>
              </a:rPr>
              <a:t>6</a:t>
            </a:r>
            <a:r>
              <a:rPr sz="2000" b="1" spc="-10" dirty="0">
                <a:solidFill>
                  <a:srgbClr val="003300"/>
                </a:solidFill>
                <a:latin typeface="Times New Roman"/>
                <a:cs typeface="Times New Roman"/>
              </a:rPr>
              <a:t>.0</a:t>
            </a:r>
            <a:r>
              <a:rPr lang="en-IN" sz="2000" b="1" spc="-10" dirty="0">
                <a:solidFill>
                  <a:srgbClr val="003300"/>
                </a:solidFill>
                <a:latin typeface="Times New Roman"/>
                <a:cs typeface="Times New Roman"/>
              </a:rPr>
              <a:t>5</a:t>
            </a:r>
            <a:r>
              <a:rPr sz="2000" b="1" spc="-10" dirty="0">
                <a:solidFill>
                  <a:srgbClr val="003300"/>
                </a:solidFill>
                <a:latin typeface="Times New Roman"/>
                <a:cs typeface="Times New Roman"/>
              </a:rPr>
              <a:t>.2026</a:t>
            </a:r>
            <a:endParaRPr sz="2000" dirty="0">
              <a:latin typeface="Times New Roman"/>
              <a:cs typeface="Times New Roman"/>
            </a:endParaRPr>
          </a:p>
          <a:p>
            <a:pPr marL="650240">
              <a:lnSpc>
                <a:spcPct val="100000"/>
              </a:lnSpc>
              <a:spcBef>
                <a:spcPts val="126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VOLUNTEER</a:t>
            </a:r>
            <a:r>
              <a:rPr sz="24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MANAGEMENT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r>
              <a:rPr sz="24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FOR</a:t>
            </a:r>
            <a:r>
              <a:rPr sz="2400" b="1" spc="-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COLLEGE</a:t>
            </a:r>
            <a:r>
              <a:rPr sz="24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EVENT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  <a:tabLst>
                <a:tab pos="5591810" algn="l"/>
              </a:tabLst>
            </a:pPr>
            <a:r>
              <a:rPr sz="2700" b="1" baseline="1543" dirty="0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sz="2700" b="1" spc="-30" baseline="15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b="1" spc="-15" baseline="1543" dirty="0">
                <a:solidFill>
                  <a:srgbClr val="FF0000"/>
                </a:solidFill>
                <a:latin typeface="Times New Roman"/>
                <a:cs typeface="Times New Roman"/>
              </a:rPr>
              <a:t>MEMBERS:</a:t>
            </a:r>
            <a:r>
              <a:rPr sz="2700" b="1" baseline="1543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GUIDED</a:t>
            </a:r>
            <a:r>
              <a:rPr sz="1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BY: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99040" y="4251504"/>
            <a:ext cx="4479290" cy="167258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spc="-70" dirty="0">
                <a:latin typeface="Times New Roman"/>
                <a:cs typeface="Times New Roman"/>
              </a:rPr>
              <a:t>Mr.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A.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ARUL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M.E.,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(Ph.D.,)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b="1" dirty="0">
                <a:latin typeface="Times New Roman"/>
                <a:cs typeface="Times New Roman"/>
              </a:rPr>
              <a:t>Assistant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Professor,</a:t>
            </a:r>
            <a:endParaRPr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1800" b="1" dirty="0">
                <a:latin typeface="Times New Roman"/>
                <a:cs typeface="Times New Roman"/>
              </a:rPr>
              <a:t>Electronics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Communication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Engineering, M</a:t>
            </a:r>
            <a:r>
              <a:rPr lang="en-IN" sz="1800" b="1" spc="-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Kumarasamy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College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Engineering.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84" y="159069"/>
            <a:ext cx="2291505" cy="8763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5202" y="128143"/>
            <a:ext cx="677260" cy="6501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0790" y="79806"/>
            <a:ext cx="792983" cy="816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87319" y="141376"/>
            <a:ext cx="553466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800" b="1" dirty="0">
                <a:latin typeface="Times New Roman"/>
                <a:cs typeface="Times New Roman"/>
              </a:rPr>
              <a:t>PROBLEM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STATEMENT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4001" y="1358778"/>
            <a:ext cx="6816090" cy="304355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415"/>
              </a:spcBef>
              <a:buFont typeface="Wingdings"/>
              <a:buChar char=""/>
              <a:tabLst>
                <a:tab pos="299085" algn="l"/>
              </a:tabLst>
            </a:pPr>
            <a:r>
              <a:rPr sz="2200" spc="-35" dirty="0">
                <a:latin typeface="Times New Roman"/>
                <a:cs typeface="Times New Roman"/>
              </a:rPr>
              <a:t>Volunteer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management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done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manually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college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events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320"/>
              </a:spcBef>
              <a:buFont typeface="Wingdings"/>
              <a:buChar char=""/>
              <a:tabLst>
                <a:tab pos="298450" algn="l"/>
              </a:tabLst>
            </a:pP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centralized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registration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coordination</a:t>
            </a:r>
            <a:endParaRPr sz="22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320"/>
              </a:spcBef>
              <a:buFont typeface="Wingdings"/>
              <a:buChar char=""/>
              <a:tabLst>
                <a:tab pos="299085" algn="l"/>
              </a:tabLst>
            </a:pPr>
            <a:r>
              <a:rPr sz="2200" dirty="0">
                <a:latin typeface="Times New Roman"/>
                <a:cs typeface="Times New Roman"/>
              </a:rPr>
              <a:t>Difficulty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assigning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volunteers</a:t>
            </a:r>
            <a:endParaRPr sz="22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320"/>
              </a:spcBef>
              <a:buFont typeface="Wingdings"/>
              <a:buChar char=""/>
              <a:tabLst>
                <a:tab pos="299085" algn="l"/>
              </a:tabLst>
            </a:pPr>
            <a:r>
              <a:rPr sz="2200" dirty="0">
                <a:latin typeface="Times New Roman"/>
                <a:cs typeface="Times New Roman"/>
              </a:rPr>
              <a:t>Poor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communication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organizers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volunteers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320"/>
              </a:spcBef>
              <a:buFont typeface="Wingdings"/>
              <a:buChar char=""/>
              <a:tabLst>
                <a:tab pos="298450" algn="l"/>
              </a:tabLst>
            </a:pPr>
            <a:r>
              <a:rPr sz="2200" dirty="0">
                <a:latin typeface="Times New Roman"/>
                <a:cs typeface="Times New Roman"/>
              </a:rPr>
              <a:t>Hard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track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attendance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performance</a:t>
            </a:r>
            <a:endParaRPr sz="22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325"/>
              </a:spcBef>
              <a:buFont typeface="Wingdings"/>
              <a:buChar char=""/>
              <a:tabLst>
                <a:tab pos="299085" algn="l"/>
              </a:tabLst>
            </a:pPr>
            <a:r>
              <a:rPr sz="2200" dirty="0">
                <a:latin typeface="Times New Roman"/>
                <a:cs typeface="Times New Roman"/>
              </a:rPr>
              <a:t>Lack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real-</a:t>
            </a:r>
            <a:r>
              <a:rPr sz="2200" dirty="0">
                <a:latin typeface="Times New Roman"/>
                <a:cs typeface="Times New Roman"/>
              </a:rPr>
              <a:t>time updates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notifications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7602" y="154812"/>
            <a:ext cx="677260" cy="6501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20" y="123929"/>
            <a:ext cx="2013682" cy="770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87597" y="251866"/>
            <a:ext cx="553466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800" b="1" spc="-10" dirty="0">
                <a:latin typeface="Times New Roman"/>
                <a:cs typeface="Times New Roman"/>
              </a:rPr>
              <a:t>OBJECTIVES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10" y="75339"/>
            <a:ext cx="2291505" cy="8788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60921" y="167512"/>
            <a:ext cx="677260" cy="6501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2840" y="1719128"/>
            <a:ext cx="10279380" cy="27705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20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develop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centralized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platform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volunteer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registration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management,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reducing</a:t>
            </a:r>
            <a:endParaRPr sz="20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errors.</a:t>
            </a:r>
            <a:endParaRPr sz="2000">
              <a:latin typeface="Times New Roman"/>
              <a:cs typeface="Times New Roman"/>
            </a:endParaRPr>
          </a:p>
          <a:p>
            <a:pPr marL="354965" marR="6350" indent="-342900">
              <a:lnSpc>
                <a:spcPct val="15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simplify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task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assignment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coordination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helping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organizers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assign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roles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track progress.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70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improve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communication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notifications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volunteers.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65" dirty="0">
                <a:latin typeface="Times New Roman"/>
                <a:cs typeface="Times New Roman"/>
              </a:rPr>
              <a:t>To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track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attendance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performance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better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evaluation.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87319" y="141376"/>
            <a:ext cx="553466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800" b="1" spc="-10" dirty="0">
                <a:latin typeface="Times New Roman"/>
                <a:cs typeface="Times New Roman"/>
              </a:rPr>
              <a:t>ABSTRACT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7602" y="154812"/>
            <a:ext cx="677260" cy="6501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20" y="123929"/>
            <a:ext cx="2013682" cy="7700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26007" y="1695678"/>
            <a:ext cx="9225915" cy="2312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Manual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volunteer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leads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inefficiency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errors.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Proposes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Volunteer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System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registration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coordination.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Provides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centralized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platform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assignment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management.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Improves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communication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real-time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notifications.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Tracks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attendance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performance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better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evaluation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success.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9" y="114111"/>
            <a:ext cx="2291504" cy="876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26072" y="167512"/>
            <a:ext cx="677260" cy="65011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328796" y="251853"/>
            <a:ext cx="553466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480"/>
              </a:spcBef>
            </a:pPr>
            <a:r>
              <a:rPr sz="2800" b="1" dirty="0">
                <a:latin typeface="Times New Roman"/>
                <a:cs typeface="Times New Roman"/>
              </a:rPr>
              <a:t>PROPOSED</a:t>
            </a:r>
            <a:r>
              <a:rPr sz="2800" b="1" spc="-1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METHODOLOGY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0531" y="1189689"/>
            <a:ext cx="10527030" cy="496506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Times New Roman"/>
                <a:cs typeface="Times New Roman"/>
              </a:rPr>
              <a:t>System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  <a:p>
            <a:pPr marL="299085" marR="367665">
              <a:lnSpc>
                <a:spcPct val="150000"/>
              </a:lnSpc>
            </a:pP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Volunteer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Management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integrating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software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hardware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components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automate </a:t>
            </a:r>
            <a:r>
              <a:rPr sz="1800" dirty="0">
                <a:latin typeface="Times New Roman"/>
                <a:cs typeface="Times New Roman"/>
              </a:rPr>
              <a:t>registration,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task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management,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attendance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tracking.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25" dirty="0">
                <a:latin typeface="Times New Roman"/>
                <a:cs typeface="Times New Roman"/>
              </a:rPr>
              <a:t>Volunteer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Registration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Develop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students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register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events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their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centralized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5"/>
              </a:spcBef>
            </a:pPr>
            <a:r>
              <a:rPr sz="1800" spc="-10" dirty="0">
                <a:latin typeface="Times New Roman"/>
                <a:cs typeface="Times New Roman"/>
              </a:rPr>
              <a:t>database.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RFID-Based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Attendance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  <a:p>
            <a:pPr marL="299085" marR="26034">
              <a:lnSpc>
                <a:spcPts val="3240"/>
              </a:lnSpc>
              <a:spcBef>
                <a:spcPts val="285"/>
              </a:spcBef>
            </a:pP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volunteer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RFID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card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During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events,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RFID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reader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scans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card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automatically </a:t>
            </a:r>
            <a:r>
              <a:rPr sz="1800" dirty="0">
                <a:latin typeface="Times New Roman"/>
                <a:cs typeface="Times New Roman"/>
              </a:rPr>
              <a:t>mark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attendance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system.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Times New Roman"/>
                <a:cs typeface="Times New Roman"/>
              </a:rPr>
              <a:t>LCD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Display</a:t>
            </a:r>
            <a:r>
              <a:rPr sz="1800" b="1" spc="-10" dirty="0">
                <a:latin typeface="Times New Roman"/>
                <a:cs typeface="Times New Roman"/>
              </a:rPr>
              <a:t> Integration</a:t>
            </a:r>
            <a:endParaRPr sz="1800">
              <a:latin typeface="Times New Roman"/>
              <a:cs typeface="Times New Roman"/>
            </a:endParaRPr>
          </a:p>
          <a:p>
            <a:pPr marL="299085" marR="5080">
              <a:lnSpc>
                <a:spcPct val="150000"/>
              </a:lnSpc>
            </a:pP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LCD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display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volunteer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attendance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status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when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RFID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card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scanned.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9" y="114111"/>
            <a:ext cx="2291504" cy="876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26072" y="167512"/>
            <a:ext cx="677260" cy="65011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328796" y="251853"/>
            <a:ext cx="553466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480"/>
              </a:spcBef>
            </a:pPr>
            <a:r>
              <a:rPr sz="2800" b="1" dirty="0">
                <a:latin typeface="Times New Roman"/>
                <a:cs typeface="Times New Roman"/>
              </a:rPr>
              <a:t>PROPOSED</a:t>
            </a:r>
            <a:r>
              <a:rPr sz="2800" b="1" spc="-1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METHODOLOGY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5700" y="1556385"/>
            <a:ext cx="10811510" cy="335476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50" dirty="0">
                <a:latin typeface="Times New Roman"/>
                <a:cs typeface="Times New Roman"/>
              </a:rPr>
              <a:t>Task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Assignment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Management</a:t>
            </a:r>
            <a:endParaRPr sz="18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Times New Roman"/>
                <a:cs typeface="Times New Roman"/>
              </a:rPr>
              <a:t>Organizers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assign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tasks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volunteers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view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assigned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roles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responsibilities.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Real-</a:t>
            </a:r>
            <a:r>
              <a:rPr sz="1800" b="1" dirty="0">
                <a:latin typeface="Times New Roman"/>
                <a:cs typeface="Times New Roman"/>
              </a:rPr>
              <a:t>Time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lang="en-IN" sz="1800" b="1" spc="-45" dirty="0" err="1">
                <a:latin typeface="Times New Roman"/>
                <a:cs typeface="Times New Roman"/>
              </a:rPr>
              <a:t>updation</a:t>
            </a:r>
            <a:r>
              <a:rPr lang="en-IN" sz="1800" b="1" spc="-45">
                <a:latin typeface="Times New Roman"/>
                <a:cs typeface="Times New Roman"/>
              </a:rPr>
              <a:t> </a:t>
            </a:r>
            <a:r>
              <a:rPr sz="1800" b="1" spc="-10">
                <a:latin typeface="Times New Roman"/>
                <a:cs typeface="Times New Roman"/>
              </a:rPr>
              <a:t>Module</a:t>
            </a:r>
            <a:endParaRPr sz="18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lang="en-IN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volunteers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regarding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schedules,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changes,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instructions.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Times New Roman"/>
                <a:cs typeface="Times New Roman"/>
              </a:rPr>
              <a:t>Database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Performance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Tracking</a:t>
            </a:r>
            <a:endParaRPr sz="18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attendance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activity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digitally,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allowing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organizers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track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reports.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Times New Roman"/>
                <a:cs typeface="Times New Roman"/>
              </a:rPr>
              <a:t>System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Testing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Implementation</a:t>
            </a:r>
            <a:endParaRPr sz="18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The complete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tested 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accuracy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reliability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before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deployed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real college</a:t>
            </a:r>
            <a:r>
              <a:rPr sz="1800" spc="-10" dirty="0">
                <a:latin typeface="Times New Roman"/>
                <a:cs typeface="Times New Roman"/>
              </a:rPr>
              <a:t> events.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87319" y="141376"/>
            <a:ext cx="553466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80"/>
              </a:spcBef>
            </a:pPr>
            <a:r>
              <a:rPr sz="2800" b="1" spc="-10" dirty="0"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7602" y="154812"/>
            <a:ext cx="677260" cy="6501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20" y="123929"/>
            <a:ext cx="2013682" cy="7700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02895" indent="-285750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02895" algn="l"/>
              </a:tabLst>
            </a:pPr>
            <a:r>
              <a:rPr b="1" spc="-20" dirty="0">
                <a:latin typeface="Times New Roman"/>
                <a:cs typeface="Times New Roman"/>
              </a:rPr>
              <a:t>Volunteer</a:t>
            </a:r>
            <a:r>
              <a:rPr b="1" spc="-8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management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is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essential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smooth</a:t>
            </a:r>
            <a:r>
              <a:rPr spc="-30" dirty="0"/>
              <a:t> </a:t>
            </a:r>
            <a:r>
              <a:rPr dirty="0"/>
              <a:t>execution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college</a:t>
            </a:r>
            <a:r>
              <a:rPr spc="-25" dirty="0"/>
              <a:t> </a:t>
            </a:r>
            <a:r>
              <a:rPr spc="-10" dirty="0"/>
              <a:t>events.</a:t>
            </a:r>
          </a:p>
          <a:p>
            <a:pPr marL="302895" indent="-28575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02895" algn="l"/>
              </a:tabLst>
            </a:pPr>
            <a:r>
              <a:rPr b="1" dirty="0">
                <a:latin typeface="Times New Roman"/>
                <a:cs typeface="Times New Roman"/>
              </a:rPr>
              <a:t>Manual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methods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are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inefficient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lead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errors,</a:t>
            </a:r>
            <a:r>
              <a:rPr spc="-45" dirty="0"/>
              <a:t> </a:t>
            </a:r>
            <a:r>
              <a:rPr dirty="0"/>
              <a:t>poor</a:t>
            </a:r>
            <a:r>
              <a:rPr spc="-35" dirty="0"/>
              <a:t> </a:t>
            </a:r>
            <a:r>
              <a:rPr dirty="0"/>
              <a:t>coordination,</a:t>
            </a:r>
            <a:r>
              <a:rPr spc="-5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communication</a:t>
            </a:r>
            <a:r>
              <a:rPr spc="-20" dirty="0"/>
              <a:t> </a:t>
            </a:r>
            <a:r>
              <a:rPr spc="-10" dirty="0"/>
              <a:t>issues.</a:t>
            </a:r>
          </a:p>
          <a:p>
            <a:pPr marL="302260" marR="6350" indent="-285750">
              <a:lnSpc>
                <a:spcPct val="150000"/>
              </a:lnSpc>
              <a:buFont typeface="Wingdings"/>
              <a:buChar char=""/>
              <a:tabLst>
                <a:tab pos="303530" algn="l"/>
                <a:tab pos="678180" algn="l"/>
                <a:tab pos="2078989" algn="l"/>
                <a:tab pos="3438525" algn="l"/>
                <a:tab pos="4375785" algn="l"/>
                <a:tab pos="4747895" algn="l"/>
                <a:tab pos="5715635" algn="l"/>
                <a:tab pos="6115050" algn="l"/>
                <a:tab pos="7108825" algn="l"/>
                <a:tab pos="8530590" algn="l"/>
                <a:tab pos="9142095" algn="l"/>
                <a:tab pos="10551795" algn="l"/>
              </a:tabLst>
            </a:pPr>
            <a:r>
              <a:rPr b="1" spc="-50" dirty="0">
                <a:latin typeface="Times New Roman"/>
                <a:cs typeface="Times New Roman"/>
              </a:rPr>
              <a:t>A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centralized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automated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system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25" dirty="0">
                <a:latin typeface="Times New Roman"/>
                <a:cs typeface="Times New Roman"/>
              </a:rPr>
              <a:t>is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needed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manage</a:t>
            </a:r>
            <a:r>
              <a:rPr dirty="0"/>
              <a:t>	</a:t>
            </a:r>
            <a:r>
              <a:rPr spc="-10" dirty="0"/>
              <a:t>registration,</a:t>
            </a:r>
            <a:r>
              <a:rPr dirty="0"/>
              <a:t>	</a:t>
            </a:r>
            <a:r>
              <a:rPr spc="-20" dirty="0"/>
              <a:t>task</a:t>
            </a:r>
            <a:r>
              <a:rPr dirty="0"/>
              <a:t>	</a:t>
            </a:r>
            <a:r>
              <a:rPr spc="-10" dirty="0"/>
              <a:t>assignment,</a:t>
            </a:r>
            <a:r>
              <a:rPr dirty="0"/>
              <a:t>	</a:t>
            </a:r>
            <a:r>
              <a:rPr spc="-25" dirty="0"/>
              <a:t>and 	</a:t>
            </a:r>
            <a:r>
              <a:rPr spc="-10" dirty="0"/>
              <a:t>communication.</a:t>
            </a:r>
          </a:p>
          <a:p>
            <a:pPr marL="302895" indent="-28575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02895" algn="l"/>
              </a:tabLst>
            </a:pPr>
            <a:r>
              <a:rPr b="1" dirty="0">
                <a:latin typeface="Times New Roman"/>
                <a:cs typeface="Times New Roman"/>
              </a:rPr>
              <a:t>Using</a:t>
            </a:r>
            <a:r>
              <a:rPr b="1" spc="19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RFID</a:t>
            </a:r>
            <a:r>
              <a:rPr b="1" spc="1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1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software</a:t>
            </a:r>
            <a:r>
              <a:rPr b="1" spc="1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integration</a:t>
            </a:r>
            <a:r>
              <a:rPr b="1" spc="175" dirty="0">
                <a:latin typeface="Times New Roman"/>
                <a:cs typeface="Times New Roman"/>
              </a:rPr>
              <a:t> </a:t>
            </a:r>
            <a:r>
              <a:rPr dirty="0"/>
              <a:t>helps</a:t>
            </a:r>
            <a:r>
              <a:rPr spc="175" dirty="0"/>
              <a:t> </a:t>
            </a:r>
            <a:r>
              <a:rPr dirty="0"/>
              <a:t>in</a:t>
            </a:r>
            <a:r>
              <a:rPr spc="175" dirty="0"/>
              <a:t> </a:t>
            </a:r>
            <a:r>
              <a:rPr dirty="0"/>
              <a:t>easy</a:t>
            </a:r>
            <a:r>
              <a:rPr spc="180" dirty="0"/>
              <a:t> </a:t>
            </a:r>
            <a:r>
              <a:rPr dirty="0"/>
              <a:t>attendance</a:t>
            </a:r>
            <a:r>
              <a:rPr spc="170" dirty="0"/>
              <a:t> </a:t>
            </a:r>
            <a:r>
              <a:rPr dirty="0"/>
              <a:t>tracking</a:t>
            </a:r>
            <a:r>
              <a:rPr spc="185" dirty="0"/>
              <a:t> </a:t>
            </a:r>
            <a:r>
              <a:rPr dirty="0"/>
              <a:t>and</a:t>
            </a:r>
            <a:r>
              <a:rPr spc="190" dirty="0"/>
              <a:t> </a:t>
            </a:r>
            <a:r>
              <a:rPr dirty="0"/>
              <a:t>improves</a:t>
            </a:r>
            <a:r>
              <a:rPr spc="170" dirty="0"/>
              <a:t> </a:t>
            </a:r>
            <a:r>
              <a:rPr dirty="0"/>
              <a:t>overall</a:t>
            </a:r>
            <a:r>
              <a:rPr spc="180" dirty="0"/>
              <a:t> </a:t>
            </a:r>
            <a:r>
              <a:rPr spc="-10" dirty="0"/>
              <a:t>event</a:t>
            </a:r>
          </a:p>
          <a:p>
            <a:pPr marL="303530">
              <a:lnSpc>
                <a:spcPct val="100000"/>
              </a:lnSpc>
              <a:spcBef>
                <a:spcPts val="1205"/>
              </a:spcBef>
            </a:pPr>
            <a:r>
              <a:rPr dirty="0"/>
              <a:t>management</a:t>
            </a:r>
            <a:r>
              <a:rPr spc="-40" dirty="0"/>
              <a:t> </a:t>
            </a:r>
            <a:r>
              <a:rPr spc="-10" dirty="0"/>
              <a:t>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87319" y="167538"/>
            <a:ext cx="553466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480"/>
              </a:spcBef>
            </a:pPr>
            <a:r>
              <a:rPr sz="2800" b="1" spc="-20" dirty="0">
                <a:latin typeface="Times New Roman"/>
                <a:cs typeface="Times New Roman"/>
              </a:rPr>
              <a:t>LITERATURE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REVIEW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10" y="75339"/>
            <a:ext cx="2291505" cy="8788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60921" y="167512"/>
            <a:ext cx="677260" cy="650119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0956" y="1185036"/>
          <a:ext cx="10997562" cy="5163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5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5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0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AUTHORS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0102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INFERENCES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937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MERITS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2023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 marR="4216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Kashif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Ishaq,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Samra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Bibi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 marR="85725" algn="just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600" spc="49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600" spc="204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600" spc="204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Attendance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6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RFID:</a:t>
                      </a:r>
                      <a:r>
                        <a:rPr sz="16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Systematic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Review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 marR="83185" algn="just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RFID</a:t>
                      </a:r>
                      <a:r>
                        <a:rPr sz="1600" spc="2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combined</a:t>
                      </a:r>
                      <a:r>
                        <a:rPr sz="1600" spc="2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27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600" spc="254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enables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automated,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600" spc="305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attendance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reduces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errors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proxy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attendance.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9275" marR="41338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Improves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reliability.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49275" marR="15430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integration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cloud platforms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2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18745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Debashon Chakraborty,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Md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Maruf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Rahman,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al.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2390" algn="just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sz="1600" spc="3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3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Efficiency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sz="1600" spc="3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Management:</a:t>
                      </a:r>
                      <a:r>
                        <a:rPr sz="1600" spc="31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Novel</a:t>
                      </a:r>
                      <a:r>
                        <a:rPr sz="1600" spc="44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RFID</a:t>
                      </a:r>
                      <a:r>
                        <a:rPr sz="1600" spc="44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44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Arduino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Integrated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090" algn="just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600" spc="24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24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RFID</a:t>
                      </a:r>
                      <a:r>
                        <a:rPr sz="1600" spc="229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24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Arduino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improves</a:t>
                      </a:r>
                      <a:r>
                        <a:rPr sz="1600" spc="3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sz="1600" spc="3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600" spc="3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600" spc="38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600" spc="38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38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automation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3185" algn="just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6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6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unique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RFID</a:t>
                      </a:r>
                      <a:r>
                        <a:rPr sz="1600" spc="30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IDs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6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scalable system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2026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74625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Rohan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Raju,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Arnav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Kulkarni,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al.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1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 marR="8445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807720" algn="l"/>
                          <a:tab pos="1490345" algn="l"/>
                          <a:tab pos="1971039" algn="l"/>
                        </a:tabLst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Scan: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RFID-Based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725" algn="just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RFID-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600" spc="425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600" spc="43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automate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intervention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efficiency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institutions.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1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3185" algn="just">
                        <a:lnSpc>
                          <a:spcPct val="100000"/>
                        </a:lnSpc>
                        <a:spcBef>
                          <a:spcPts val="540"/>
                        </a:spcBef>
                        <a:tabLst>
                          <a:tab pos="1506855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31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efficient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operation</a:t>
                      </a:r>
                      <a:r>
                        <a:rPr sz="1600" spc="33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04" y="219267"/>
            <a:ext cx="2291505" cy="876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19341" y="221234"/>
            <a:ext cx="677260" cy="65011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328796" y="305587"/>
            <a:ext cx="553466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384810">
              <a:lnSpc>
                <a:spcPct val="100000"/>
              </a:lnSpc>
              <a:spcBef>
                <a:spcPts val="480"/>
              </a:spcBef>
            </a:pPr>
            <a:r>
              <a:rPr sz="2800" b="1" dirty="0">
                <a:latin typeface="Times New Roman"/>
                <a:cs typeface="Times New Roman"/>
              </a:rPr>
              <a:t>EXISTING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METHODOLOGY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3236" y="1203172"/>
            <a:ext cx="5941060" cy="50025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volunteer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involves: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registration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paper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10" dirty="0">
                <a:latin typeface="Times New Roman"/>
                <a:cs typeface="Times New Roman"/>
              </a:rPr>
              <a:t>spreadsheets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centralized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volunteers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assignment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organizers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Attendance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manually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verbally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real-time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communication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Disadvantages: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30" dirty="0">
                <a:latin typeface="Times New Roman"/>
                <a:cs typeface="Times New Roman"/>
              </a:rPr>
              <a:t>Time-</a:t>
            </a:r>
            <a:r>
              <a:rPr sz="1800" dirty="0">
                <a:latin typeface="Times New Roman"/>
                <a:cs typeface="Times New Roman"/>
              </a:rPr>
              <a:t>consuming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prone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human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errors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Difficulty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tracking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volunteer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participation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Poor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communication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organizers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volunteers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notifications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Lack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attendance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records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Inefficient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coordination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during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events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04" y="219267"/>
            <a:ext cx="2291505" cy="876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19341" y="221234"/>
            <a:ext cx="677260" cy="65011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328796" y="305587"/>
            <a:ext cx="553466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800" b="1" spc="-10" dirty="0">
                <a:latin typeface="Times New Roman"/>
                <a:cs typeface="Times New Roman"/>
              </a:rPr>
              <a:t>TECHNOLOGY</a:t>
            </a:r>
            <a:r>
              <a:rPr sz="2800" b="1" spc="-12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USED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1756745"/>
            <a:ext cx="10360025" cy="386778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54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Frontend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We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HTML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CSS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 interface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HTML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CSS →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style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pages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834" algn="just">
              <a:lnSpc>
                <a:spcPct val="150000"/>
              </a:lnSpc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Backend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Python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Flask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handle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backend </a:t>
            </a:r>
            <a:r>
              <a:rPr sz="2400" dirty="0">
                <a:latin typeface="Times New Roman"/>
                <a:cs typeface="Times New Roman"/>
              </a:rPr>
              <a:t>operations.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Flask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frontend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base.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user </a:t>
            </a:r>
            <a:r>
              <a:rPr sz="2400" dirty="0">
                <a:latin typeface="Times New Roman"/>
                <a:cs typeface="Times New Roman"/>
              </a:rPr>
              <a:t>requests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responses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834" algn="just">
              <a:lnSpc>
                <a:spcPts val="4320"/>
              </a:lnSpc>
              <a:spcBef>
                <a:spcPts val="18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35" dirty="0">
                <a:latin typeface="Times New Roman"/>
                <a:cs typeface="Times New Roman"/>
              </a:rPr>
              <a:t>We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SQLite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volunteer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details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stores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role,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tasks,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lightweight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use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60320" y="143916"/>
            <a:ext cx="7756525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760"/>
              </a:spcBef>
            </a:pPr>
            <a:r>
              <a:rPr sz="2400" b="1" dirty="0">
                <a:latin typeface="Times New Roman"/>
                <a:cs typeface="Times New Roman"/>
              </a:rPr>
              <a:t>BLOCK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DIAGRAM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PROPOSED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87614" y="1537970"/>
            <a:ext cx="3553460" cy="37820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000"/>
              </a:spcBef>
            </a:pPr>
            <a:r>
              <a:rPr sz="1800" b="1" dirty="0">
                <a:solidFill>
                  <a:srgbClr val="FF0066"/>
                </a:solidFill>
                <a:latin typeface="Times New Roman"/>
                <a:cs typeface="Times New Roman"/>
              </a:rPr>
              <a:t>Feasibility</a:t>
            </a:r>
            <a:r>
              <a:rPr sz="1800" b="1" spc="-5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66"/>
                </a:solidFill>
                <a:latin typeface="Times New Roman"/>
                <a:cs typeface="Times New Roman"/>
              </a:rPr>
              <a:t>&amp;</a:t>
            </a:r>
            <a:r>
              <a:rPr sz="1800" b="1" spc="-6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66"/>
                </a:solidFill>
                <a:latin typeface="Times New Roman"/>
                <a:cs typeface="Times New Roman"/>
              </a:rPr>
              <a:t>Viability</a:t>
            </a:r>
            <a:endParaRPr sz="1800">
              <a:latin typeface="Times New Roman"/>
              <a:cs typeface="Times New Roman"/>
            </a:endParaRPr>
          </a:p>
          <a:p>
            <a:pPr marL="378460" marR="163195" indent="-287020">
              <a:lnSpc>
                <a:spcPct val="150000"/>
              </a:lnSpc>
              <a:buFont typeface="Arial MT"/>
              <a:buChar char="•"/>
              <a:tabLst>
                <a:tab pos="37846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Technically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feasible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Uses </a:t>
            </a:r>
            <a:r>
              <a:rPr sz="1800" dirty="0">
                <a:latin typeface="Times New Roman"/>
                <a:cs typeface="Times New Roman"/>
              </a:rPr>
              <a:t>simple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available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technology.</a:t>
            </a:r>
            <a:endParaRPr sz="1800">
              <a:latin typeface="Times New Roman"/>
              <a:cs typeface="Times New Roman"/>
            </a:endParaRPr>
          </a:p>
          <a:p>
            <a:pPr marL="378460" marR="402590" indent="-287020">
              <a:lnSpc>
                <a:spcPts val="3240"/>
              </a:lnSpc>
              <a:spcBef>
                <a:spcPts val="285"/>
              </a:spcBef>
              <a:buFont typeface="Arial MT"/>
              <a:buChar char="•"/>
              <a:tabLst>
                <a:tab pos="378460" algn="l"/>
              </a:tabLst>
            </a:pPr>
            <a:r>
              <a:rPr sz="1800" b="1" dirty="0">
                <a:latin typeface="Times New Roman"/>
                <a:cs typeface="Times New Roman"/>
              </a:rPr>
              <a:t>Economically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feasible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Low </a:t>
            </a:r>
            <a:r>
              <a:rPr sz="1800" dirty="0">
                <a:latin typeface="Times New Roman"/>
                <a:cs typeface="Times New Roman"/>
              </a:rPr>
              <a:t>cost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affordable.</a:t>
            </a:r>
            <a:endParaRPr sz="1800">
              <a:latin typeface="Times New Roman"/>
              <a:cs typeface="Times New Roman"/>
            </a:endParaRPr>
          </a:p>
          <a:p>
            <a:pPr marL="378460" marR="104775" indent="-287020">
              <a:lnSpc>
                <a:spcPts val="3240"/>
              </a:lnSpc>
              <a:spcBef>
                <a:spcPts val="5"/>
              </a:spcBef>
              <a:buFont typeface="Arial MT"/>
              <a:buChar char="•"/>
              <a:tabLst>
                <a:tab pos="378460" algn="l"/>
              </a:tabLst>
            </a:pPr>
            <a:r>
              <a:rPr sz="1800" b="1" dirty="0">
                <a:latin typeface="Times New Roman"/>
                <a:cs typeface="Times New Roman"/>
              </a:rPr>
              <a:t>Operationally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feasible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Easy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manage.</a:t>
            </a:r>
            <a:endParaRPr sz="1800">
              <a:latin typeface="Times New Roman"/>
              <a:cs typeface="Times New Roman"/>
            </a:endParaRPr>
          </a:p>
          <a:p>
            <a:pPr marL="378460" indent="-28638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78460" algn="l"/>
              </a:tabLst>
            </a:pPr>
            <a:r>
              <a:rPr sz="1800" b="1" dirty="0">
                <a:latin typeface="Times New Roman"/>
                <a:cs typeface="Times New Roman"/>
              </a:rPr>
              <a:t>Practically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viable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Saves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time</a:t>
            </a:r>
            <a:endParaRPr sz="1800">
              <a:latin typeface="Times New Roman"/>
              <a:cs typeface="Times New Roman"/>
            </a:endParaRPr>
          </a:p>
          <a:p>
            <a:pPr marL="37846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improves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efficiency.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3439" y="96519"/>
            <a:ext cx="677260" cy="6501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72" y="124312"/>
            <a:ext cx="2006408" cy="7673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C09537-08C0-E30A-10F0-6D72170D0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174496"/>
            <a:ext cx="6934200" cy="41738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9" y="137931"/>
            <a:ext cx="2092437" cy="8002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26072" y="167512"/>
            <a:ext cx="677260" cy="65011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64486" y="1382128"/>
            <a:ext cx="8676640" cy="4879340"/>
            <a:chOff x="1864486" y="1382128"/>
            <a:chExt cx="8676640" cy="4879340"/>
          </a:xfrm>
        </p:grpSpPr>
        <p:sp>
          <p:nvSpPr>
            <p:cNvPr id="5" name="object 5"/>
            <p:cNvSpPr/>
            <p:nvPr/>
          </p:nvSpPr>
          <p:spPr>
            <a:xfrm>
              <a:off x="1870836" y="1388478"/>
              <a:ext cx="8663940" cy="4866640"/>
            </a:xfrm>
            <a:custGeom>
              <a:avLst/>
              <a:gdLst/>
              <a:ahLst/>
              <a:cxnLst/>
              <a:rect l="l" t="t" r="r" b="b"/>
              <a:pathLst>
                <a:path w="8663940" h="4866640">
                  <a:moveTo>
                    <a:pt x="0" y="4866259"/>
                  </a:moveTo>
                  <a:lnTo>
                    <a:pt x="8663432" y="4866259"/>
                  </a:lnTo>
                  <a:lnTo>
                    <a:pt x="8663432" y="0"/>
                  </a:lnTo>
                  <a:lnTo>
                    <a:pt x="0" y="0"/>
                  </a:lnTo>
                  <a:lnTo>
                    <a:pt x="0" y="486625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7244" y="1757605"/>
              <a:ext cx="8230743" cy="4197982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950972" y="213004"/>
            <a:ext cx="6153150" cy="70485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sz="2400" b="1" dirty="0">
                <a:latin typeface="Times New Roman"/>
                <a:cs typeface="Times New Roman"/>
              </a:rPr>
              <a:t>CIRCUIT</a:t>
            </a:r>
            <a:r>
              <a:rPr sz="2400" b="1" spc="-1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DIAGRAM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28442" y="116992"/>
            <a:ext cx="6135370" cy="61722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760"/>
              </a:spcBef>
            </a:pPr>
            <a:r>
              <a:rPr sz="2400" b="1" spc="-65" dirty="0">
                <a:latin typeface="Times New Roman"/>
                <a:cs typeface="Times New Roman"/>
              </a:rPr>
              <a:t>INNOVATIVE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ASPECTS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BENEFITS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844" y="1383029"/>
            <a:ext cx="4612640" cy="2401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0066"/>
                </a:solidFill>
                <a:latin typeface="Times New Roman"/>
                <a:cs typeface="Times New Roman"/>
              </a:rPr>
              <a:t>INNOVATION</a:t>
            </a:r>
            <a:r>
              <a:rPr sz="1600" b="1" spc="-5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66"/>
                </a:solidFill>
                <a:latin typeface="Times New Roman"/>
                <a:cs typeface="Times New Roman"/>
              </a:rPr>
              <a:t>AND</a:t>
            </a:r>
            <a:r>
              <a:rPr sz="1600" b="1" spc="30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0066"/>
                </a:solidFill>
                <a:latin typeface="Times New Roman"/>
                <a:cs typeface="Times New Roman"/>
              </a:rPr>
              <a:t>UNIQUENESS</a:t>
            </a:r>
            <a:endParaRPr sz="1600">
              <a:latin typeface="Times New Roman"/>
              <a:cs typeface="Times New Roman"/>
            </a:endParaRPr>
          </a:p>
          <a:p>
            <a:pPr marL="533400" indent="-286385">
              <a:lnSpc>
                <a:spcPct val="100000"/>
              </a:lnSpc>
              <a:spcBef>
                <a:spcPts val="1670"/>
              </a:spcBef>
              <a:buFont typeface="Arial MT"/>
              <a:buChar char="•"/>
              <a:tabLst>
                <a:tab pos="53340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visualization</a:t>
            </a:r>
            <a:endParaRPr sz="1800">
              <a:latin typeface="Times New Roman"/>
              <a:cs typeface="Times New Roman"/>
            </a:endParaRPr>
          </a:p>
          <a:p>
            <a:pPr marL="533400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533400" algn="l"/>
              </a:tabLst>
            </a:pPr>
            <a:r>
              <a:rPr sz="1800" dirty="0">
                <a:latin typeface="Times New Roman"/>
                <a:cs typeface="Times New Roman"/>
              </a:rPr>
              <a:t>Smart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analysis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usage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patterns</a:t>
            </a:r>
            <a:endParaRPr sz="1800">
              <a:latin typeface="Times New Roman"/>
              <a:cs typeface="Times New Roman"/>
            </a:endParaRPr>
          </a:p>
          <a:p>
            <a:pPr marL="533400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533400" algn="l"/>
              </a:tabLst>
            </a:pPr>
            <a:r>
              <a:rPr sz="1800" spc="-25" dirty="0">
                <a:latin typeface="Times New Roman"/>
                <a:cs typeface="Times New Roman"/>
              </a:rPr>
              <a:t>User-</a:t>
            </a:r>
            <a:r>
              <a:rPr sz="1800" dirty="0">
                <a:latin typeface="Times New Roman"/>
                <a:cs typeface="Times New Roman"/>
              </a:rPr>
              <a:t>friendly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dashboard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interface</a:t>
            </a:r>
            <a:endParaRPr sz="1800">
              <a:latin typeface="Times New Roman"/>
              <a:cs typeface="Times New Roman"/>
            </a:endParaRPr>
          </a:p>
          <a:p>
            <a:pPr marL="533400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533400" algn="l"/>
              </a:tabLst>
            </a:pPr>
            <a:r>
              <a:rPr sz="1800" dirty="0">
                <a:latin typeface="Times New Roman"/>
                <a:cs typeface="Times New Roman"/>
              </a:rPr>
              <a:t>Automated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processing</a:t>
            </a:r>
            <a:endParaRPr sz="1800">
              <a:latin typeface="Times New Roman"/>
              <a:cs typeface="Times New Roman"/>
            </a:endParaRPr>
          </a:p>
          <a:p>
            <a:pPr marL="533400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533400" algn="l"/>
              </a:tabLst>
            </a:pPr>
            <a:r>
              <a:rPr sz="1800" dirty="0">
                <a:latin typeface="Times New Roman"/>
                <a:cs typeface="Times New Roman"/>
              </a:rPr>
              <a:t>Fast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reliable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performance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316" y="4320102"/>
            <a:ext cx="5528945" cy="2034539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600" b="1" spc="-25" dirty="0">
                <a:solidFill>
                  <a:srgbClr val="FF0066"/>
                </a:solidFill>
                <a:latin typeface="Times New Roman"/>
                <a:cs typeface="Times New Roman"/>
              </a:rPr>
              <a:t>SOCIETAL</a:t>
            </a:r>
            <a:r>
              <a:rPr sz="1600" b="1" spc="-3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0066"/>
                </a:solidFill>
                <a:latin typeface="Times New Roman"/>
                <a:cs typeface="Times New Roman"/>
              </a:rPr>
              <a:t>BENEFITS</a:t>
            </a:r>
            <a:endParaRPr sz="1600">
              <a:latin typeface="Times New Roman"/>
              <a:cs typeface="Times New Roman"/>
            </a:endParaRPr>
          </a:p>
          <a:p>
            <a:pPr marL="567055" indent="-286385">
              <a:lnSpc>
                <a:spcPct val="100000"/>
              </a:lnSpc>
              <a:spcBef>
                <a:spcPts val="1070"/>
              </a:spcBef>
              <a:buFont typeface="Arial MT"/>
              <a:buChar char="•"/>
              <a:tabLst>
                <a:tab pos="567055" algn="l"/>
              </a:tabLst>
            </a:pPr>
            <a:r>
              <a:rPr sz="1800" dirty="0">
                <a:latin typeface="Times New Roman"/>
                <a:cs typeface="Times New Roman"/>
              </a:rPr>
              <a:t>Promotes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efficient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energy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usage</a:t>
            </a:r>
            <a:endParaRPr sz="1800">
              <a:latin typeface="Times New Roman"/>
              <a:cs typeface="Times New Roman"/>
            </a:endParaRPr>
          </a:p>
          <a:p>
            <a:pPr marL="56705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567055" algn="l"/>
              </a:tabLst>
            </a:pPr>
            <a:r>
              <a:rPr sz="1800" dirty="0">
                <a:latin typeface="Times New Roman"/>
                <a:cs typeface="Times New Roman"/>
              </a:rPr>
              <a:t>Reduces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electricity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costs</a:t>
            </a:r>
            <a:endParaRPr sz="1800">
              <a:latin typeface="Times New Roman"/>
              <a:cs typeface="Times New Roman"/>
            </a:endParaRPr>
          </a:p>
          <a:p>
            <a:pPr marL="56705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567055" algn="l"/>
              </a:tabLst>
            </a:pPr>
            <a:r>
              <a:rPr sz="1800" dirty="0">
                <a:latin typeface="Times New Roman"/>
                <a:cs typeface="Times New Roman"/>
              </a:rPr>
              <a:t>Improves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awareness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insights</a:t>
            </a:r>
            <a:endParaRPr sz="1800">
              <a:latin typeface="Times New Roman"/>
              <a:cs typeface="Times New Roman"/>
            </a:endParaRPr>
          </a:p>
          <a:p>
            <a:pPr marL="56705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567055" algn="l"/>
              </a:tabLst>
            </a:pPr>
            <a:r>
              <a:rPr sz="1800" dirty="0">
                <a:latin typeface="Times New Roman"/>
                <a:cs typeface="Times New Roman"/>
              </a:rPr>
              <a:t>Supports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sustainability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smart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energy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management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34225" y="1099819"/>
            <a:ext cx="19837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FF0066"/>
                </a:solidFill>
                <a:latin typeface="Times New Roman"/>
                <a:cs typeface="Times New Roman"/>
              </a:rPr>
              <a:t>TARGET</a:t>
            </a:r>
            <a:r>
              <a:rPr sz="1600" b="1" spc="-6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0066"/>
                </a:solidFill>
                <a:latin typeface="Times New Roman"/>
                <a:cs typeface="Times New Roman"/>
              </a:rPr>
              <a:t>AUDIENCE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55790" y="1074927"/>
            <a:ext cx="0" cy="3065145"/>
          </a:xfrm>
          <a:custGeom>
            <a:avLst/>
            <a:gdLst/>
            <a:ahLst/>
            <a:cxnLst/>
            <a:rect l="l" t="t" r="r" b="b"/>
            <a:pathLst>
              <a:path h="3065145">
                <a:moveTo>
                  <a:pt x="0" y="3064891"/>
                </a:moveTo>
                <a:lnTo>
                  <a:pt x="0" y="0"/>
                </a:lnTo>
              </a:path>
            </a:pathLst>
          </a:custGeom>
          <a:ln w="19050">
            <a:solidFill>
              <a:srgbClr val="1F4E7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9936" y="4260977"/>
            <a:ext cx="11892280" cy="0"/>
          </a:xfrm>
          <a:custGeom>
            <a:avLst/>
            <a:gdLst/>
            <a:ahLst/>
            <a:cxnLst/>
            <a:rect l="l" t="t" r="r" b="b"/>
            <a:pathLst>
              <a:path w="11892280">
                <a:moveTo>
                  <a:pt x="1189207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1F4E7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9247" y="173481"/>
            <a:ext cx="677260" cy="6501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39" y="104754"/>
            <a:ext cx="2020322" cy="77263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340345" y="1242186"/>
            <a:ext cx="13417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Times New Roman"/>
                <a:cs typeface="Times New Roman"/>
              </a:rPr>
              <a:t>Residential monitoring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72550" y="1242186"/>
            <a:ext cx="26879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 marR="5080" indent="-81280">
              <a:lnSpc>
                <a:spcPct val="150000"/>
              </a:lnSpc>
              <a:spcBef>
                <a:spcPts val="100"/>
              </a:spcBef>
              <a:tabLst>
                <a:tab pos="798830" algn="l"/>
                <a:tab pos="832485" algn="l"/>
                <a:tab pos="1382395" algn="l"/>
                <a:tab pos="2155190" algn="l"/>
              </a:tabLst>
            </a:pPr>
            <a:r>
              <a:rPr sz="1800" spc="-10" dirty="0">
                <a:latin typeface="Times New Roman"/>
                <a:cs typeface="Times New Roman"/>
              </a:rPr>
              <a:t>users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for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daily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usage 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r>
              <a:rPr sz="1800" dirty="0">
                <a:latin typeface="Times New Roman"/>
                <a:cs typeface="Times New Roman"/>
              </a:rPr>
              <a:t>		</a:t>
            </a:r>
            <a:r>
              <a:rPr sz="1800" spc="-10" dirty="0">
                <a:latin typeface="Times New Roman"/>
                <a:cs typeface="Times New Roman"/>
              </a:rPr>
              <a:t>students/researchers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40345" y="2064466"/>
            <a:ext cx="4320540" cy="208470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algn="just">
              <a:lnSpc>
                <a:spcPct val="100000"/>
              </a:lnSpc>
              <a:spcBef>
                <a:spcPts val="1185"/>
              </a:spcBef>
            </a:pPr>
            <a:r>
              <a:rPr sz="1800" dirty="0">
                <a:latin typeface="Times New Roman"/>
                <a:cs typeface="Times New Roman"/>
              </a:rPr>
              <a:t>working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IoT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projects.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Smart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home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developers,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IoT</a:t>
            </a:r>
            <a:r>
              <a:rPr sz="1800" spc="5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enthusiasts,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small-</a:t>
            </a:r>
            <a:r>
              <a:rPr sz="1800" dirty="0">
                <a:latin typeface="Times New Roman"/>
                <a:cs typeface="Times New Roman"/>
              </a:rPr>
              <a:t>scale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industries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offices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energy</a:t>
            </a:r>
            <a:r>
              <a:rPr sz="1800" spc="455" dirty="0">
                <a:latin typeface="Times New Roman"/>
                <a:cs typeface="Times New Roman"/>
              </a:rPr>
              <a:t>    </a:t>
            </a:r>
            <a:r>
              <a:rPr sz="1800" dirty="0">
                <a:latin typeface="Times New Roman"/>
                <a:cs typeface="Times New Roman"/>
              </a:rPr>
              <a:t>tracking</a:t>
            </a:r>
            <a:r>
              <a:rPr sz="1800" spc="459" dirty="0">
                <a:latin typeface="Times New Roman"/>
                <a:cs typeface="Times New Roman"/>
              </a:rPr>
              <a:t>   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50" dirty="0">
                <a:latin typeface="Times New Roman"/>
                <a:cs typeface="Times New Roman"/>
              </a:rPr>
              <a:t>    </a:t>
            </a:r>
            <a:r>
              <a:rPr sz="1800" spc="-10" dirty="0">
                <a:latin typeface="Times New Roman"/>
                <a:cs typeface="Times New Roman"/>
              </a:rPr>
              <a:t>efficiency improvement.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6072" y="167512"/>
            <a:ext cx="677260" cy="6501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39" y="137931"/>
            <a:ext cx="2092437" cy="80020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056763" y="187731"/>
            <a:ext cx="6153150" cy="70485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070100" marR="142875" indent="-1920875">
              <a:lnSpc>
                <a:spcPts val="2590"/>
              </a:lnSpc>
              <a:spcBef>
                <a:spcPts val="135"/>
              </a:spcBef>
            </a:pPr>
            <a:r>
              <a:rPr sz="2400" b="1" dirty="0">
                <a:latin typeface="Times New Roman"/>
                <a:cs typeface="Times New Roman"/>
              </a:rPr>
              <a:t>WORK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MODULE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COMPLETION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STATUS </a:t>
            </a:r>
            <a:r>
              <a:rPr sz="2400" b="1" spc="-10" dirty="0">
                <a:latin typeface="Times New Roman"/>
                <a:cs typeface="Times New Roman"/>
              </a:rPr>
              <a:t>(HARDWARE)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0827" y="1600200"/>
            <a:ext cx="5134356" cy="44727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6977" y="2362200"/>
            <a:ext cx="5134610" cy="1907539"/>
          </a:xfrm>
          <a:prstGeom prst="rect">
            <a:avLst/>
          </a:prstGeom>
          <a:ln w="12700">
            <a:solidFill>
              <a:srgbClr val="41709C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marL="433705" indent="-342265">
              <a:lnSpc>
                <a:spcPct val="100000"/>
              </a:lnSpc>
              <a:spcBef>
                <a:spcPts val="1135"/>
              </a:spcBef>
              <a:buFont typeface="Arial MT"/>
              <a:buChar char="•"/>
              <a:tabLst>
                <a:tab pos="433705" algn="l"/>
              </a:tabLst>
            </a:pP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tested</a:t>
            </a:r>
            <a:endParaRPr sz="2000" dirty="0">
              <a:latin typeface="Times New Roman"/>
              <a:cs typeface="Times New Roman"/>
            </a:endParaRPr>
          </a:p>
          <a:p>
            <a:pPr marL="43370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33705" algn="l"/>
              </a:tabLst>
            </a:pPr>
            <a:r>
              <a:rPr sz="2000" dirty="0">
                <a:latin typeface="Times New Roman"/>
                <a:cs typeface="Times New Roman"/>
              </a:rPr>
              <a:t>Sensors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calibrated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successfully</a:t>
            </a:r>
            <a:endParaRPr sz="2000" dirty="0">
              <a:latin typeface="Times New Roman"/>
              <a:cs typeface="Times New Roman"/>
            </a:endParaRPr>
          </a:p>
          <a:p>
            <a:pPr marL="43370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33705" algn="l"/>
              </a:tabLst>
            </a:pPr>
            <a:r>
              <a:rPr sz="2000" dirty="0">
                <a:latin typeface="Times New Roman"/>
                <a:cs typeface="Times New Roman"/>
              </a:rPr>
              <a:t>Dashboard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developed</a:t>
            </a:r>
            <a:endParaRPr sz="2000" dirty="0">
              <a:latin typeface="Times New Roman"/>
              <a:cs typeface="Times New Roman"/>
            </a:endParaRPr>
          </a:p>
          <a:p>
            <a:pPr marL="43370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33705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communication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visualization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verified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6E1B84-E245-FB94-E528-72FA54CB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9E2AE39-65DC-4148-3F37-CC342647C1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6072" y="167512"/>
            <a:ext cx="677260" cy="650119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44DD366D-D9D2-ABFA-F0CA-AF745E36904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39" y="137931"/>
            <a:ext cx="2092437" cy="800207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6DC2EC35-93E3-950F-8E48-33E8D26CA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6763" y="187731"/>
            <a:ext cx="6153150" cy="70485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070100" marR="142875" indent="-1920875">
              <a:lnSpc>
                <a:spcPts val="2590"/>
              </a:lnSpc>
              <a:spcBef>
                <a:spcPts val="135"/>
              </a:spcBef>
            </a:pPr>
            <a:r>
              <a:rPr sz="2400" b="1" dirty="0">
                <a:latin typeface="Times New Roman"/>
                <a:cs typeface="Times New Roman"/>
              </a:rPr>
              <a:t>WORK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MODULE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COMPLETION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STATUS </a:t>
            </a:r>
            <a:r>
              <a:rPr sz="2400" b="1" spc="-10" dirty="0">
                <a:latin typeface="Times New Roman"/>
                <a:cs typeface="Times New Roman"/>
              </a:rPr>
              <a:t>(</a:t>
            </a:r>
            <a:r>
              <a:rPr lang="en-IN" sz="2400" b="1" spc="-10" dirty="0"/>
              <a:t>SOFT</a:t>
            </a:r>
            <a:r>
              <a:rPr sz="2400" b="1" spc="-10" dirty="0">
                <a:latin typeface="Times New Roman"/>
                <a:cs typeface="Times New Roman"/>
              </a:rPr>
              <a:t>WARE)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E6238-2100-1777-1F11-217133057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38" y="1670566"/>
            <a:ext cx="9448800" cy="3886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2CD345-CD29-8AC7-BC07-BA71C5C5A650}"/>
              </a:ext>
            </a:extLst>
          </p:cNvPr>
          <p:cNvSpPr txBox="1"/>
          <p:nvPr/>
        </p:nvSpPr>
        <p:spPr>
          <a:xfrm>
            <a:off x="3149473" y="5715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algn="ctr">
              <a:lnSpc>
                <a:spcPct val="100000"/>
              </a:lnSpc>
              <a:spcBef>
                <a:spcPts val="1200"/>
              </a:spcBef>
              <a:tabLst>
                <a:tab pos="433705" algn="l"/>
              </a:tabLst>
            </a:pPr>
            <a:r>
              <a:rPr lang="en-IN" sz="1800" b="1" spc="-10" dirty="0">
                <a:latin typeface="Times New Roman"/>
                <a:cs typeface="Times New Roman"/>
              </a:rPr>
              <a:t>Admin Dashboard</a:t>
            </a:r>
            <a:endParaRPr lang="en-IN" sz="18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6086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75C221-B7BF-B51D-54B1-DDBF5212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B444CC1-D6CB-A77C-C640-D2C0DFF1FF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6072" y="167512"/>
            <a:ext cx="677260" cy="650119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8C0F72F6-C9F1-A215-93D2-6B614AB3DE7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39" y="137931"/>
            <a:ext cx="2092437" cy="800207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15FD7D0C-5EC8-C298-E136-14E6A0B67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6763" y="187731"/>
            <a:ext cx="6153150" cy="70485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070100" marR="142875" indent="-1920875">
              <a:lnSpc>
                <a:spcPts val="2590"/>
              </a:lnSpc>
              <a:spcBef>
                <a:spcPts val="135"/>
              </a:spcBef>
            </a:pPr>
            <a:r>
              <a:rPr sz="2400" b="1" dirty="0">
                <a:latin typeface="Times New Roman"/>
                <a:cs typeface="Times New Roman"/>
              </a:rPr>
              <a:t>WORK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MODULE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COMPLETION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STATUS </a:t>
            </a:r>
            <a:r>
              <a:rPr sz="2400" b="1" spc="-10" dirty="0">
                <a:latin typeface="Times New Roman"/>
                <a:cs typeface="Times New Roman"/>
              </a:rPr>
              <a:t>(</a:t>
            </a:r>
            <a:r>
              <a:rPr lang="en-IN" sz="2400" b="1" spc="-10" dirty="0"/>
              <a:t>SOFT</a:t>
            </a:r>
            <a:r>
              <a:rPr sz="2400" b="1" spc="-10" dirty="0">
                <a:latin typeface="Times New Roman"/>
                <a:cs typeface="Times New Roman"/>
              </a:rPr>
              <a:t>WARE)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385D5E-85D3-8A63-19CE-7B843C5BD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600200"/>
            <a:ext cx="9753600" cy="419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432EDD-2DB7-83B4-B233-9A1B04D31FBB}"/>
              </a:ext>
            </a:extLst>
          </p:cNvPr>
          <p:cNvSpPr txBox="1"/>
          <p:nvPr/>
        </p:nvSpPr>
        <p:spPr>
          <a:xfrm>
            <a:off x="3077083" y="5943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algn="ctr">
              <a:lnSpc>
                <a:spcPct val="100000"/>
              </a:lnSpc>
              <a:spcBef>
                <a:spcPts val="1200"/>
              </a:spcBef>
              <a:tabLst>
                <a:tab pos="433705" algn="l"/>
              </a:tabLst>
            </a:pPr>
            <a:r>
              <a:rPr lang="en-IN" sz="1800" b="1" spc="-10" dirty="0">
                <a:latin typeface="Times New Roman"/>
                <a:cs typeface="Times New Roman"/>
              </a:rPr>
              <a:t>Student Dashboard</a:t>
            </a:r>
            <a:endParaRPr lang="en-IN" sz="18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8322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9" y="137931"/>
            <a:ext cx="2092437" cy="8002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26072" y="167512"/>
            <a:ext cx="677260" cy="6501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90842" y="1490091"/>
            <a:ext cx="6162675" cy="4866640"/>
          </a:xfrm>
          <a:custGeom>
            <a:avLst/>
            <a:gdLst/>
            <a:ahLst/>
            <a:cxnLst/>
            <a:rect l="l" t="t" r="r" b="b"/>
            <a:pathLst>
              <a:path w="6162675" h="4866640">
                <a:moveTo>
                  <a:pt x="0" y="4866259"/>
                </a:moveTo>
                <a:lnTo>
                  <a:pt x="6162167" y="4866259"/>
                </a:lnTo>
                <a:lnTo>
                  <a:pt x="6162167" y="0"/>
                </a:lnTo>
                <a:lnTo>
                  <a:pt x="0" y="0"/>
                </a:lnTo>
                <a:lnTo>
                  <a:pt x="0" y="4866259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798572" y="197383"/>
            <a:ext cx="6153150" cy="704850"/>
          </a:xfrm>
          <a:prstGeom prst="rect">
            <a:avLst/>
          </a:prstGeom>
          <a:ln w="57150">
            <a:solidFill>
              <a:srgbClr val="0000FF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sz="2400" b="1" spc="-50" dirty="0">
                <a:latin typeface="Times New Roman"/>
                <a:cs typeface="Times New Roman"/>
              </a:rPr>
              <a:t>RESULTS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DISCUSSION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348093" y="1483766"/>
            <a:ext cx="3918585" cy="4846320"/>
            <a:chOff x="7348093" y="1483766"/>
            <a:chExt cx="3918585" cy="4846320"/>
          </a:xfrm>
        </p:grpSpPr>
        <p:sp>
          <p:nvSpPr>
            <p:cNvPr id="7" name="object 7"/>
            <p:cNvSpPr/>
            <p:nvPr/>
          </p:nvSpPr>
          <p:spPr>
            <a:xfrm>
              <a:off x="7354443" y="1490116"/>
              <a:ext cx="3905885" cy="4833620"/>
            </a:xfrm>
            <a:custGeom>
              <a:avLst/>
              <a:gdLst/>
              <a:ahLst/>
              <a:cxnLst/>
              <a:rect l="l" t="t" r="r" b="b"/>
              <a:pathLst>
                <a:path w="3905884" h="4833620">
                  <a:moveTo>
                    <a:pt x="0" y="4833620"/>
                  </a:moveTo>
                  <a:lnTo>
                    <a:pt x="3905758" y="4833620"/>
                  </a:lnTo>
                  <a:lnTo>
                    <a:pt x="3905758" y="0"/>
                  </a:lnTo>
                  <a:lnTo>
                    <a:pt x="0" y="0"/>
                  </a:lnTo>
                  <a:lnTo>
                    <a:pt x="0" y="483362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92822" y="2114169"/>
              <a:ext cx="3429000" cy="344042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9519" y="1653032"/>
            <a:ext cx="5899785" cy="455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successful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implementation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proposed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validated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obtained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during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testing.</a:t>
            </a:r>
            <a:endParaRPr sz="1800">
              <a:latin typeface="Times New Roman"/>
              <a:cs typeface="Times New Roman"/>
            </a:endParaRPr>
          </a:p>
          <a:p>
            <a:pPr marL="299085" marR="16129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demonstrate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key </a:t>
            </a:r>
            <a:r>
              <a:rPr sz="1800" dirty="0">
                <a:latin typeface="Times New Roman"/>
                <a:cs typeface="Times New Roman"/>
              </a:rPr>
              <a:t>modules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acquisition,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processing,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visualization,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interaction.</a:t>
            </a:r>
            <a:endParaRPr sz="1800">
              <a:latin typeface="Times New Roman"/>
              <a:cs typeface="Times New Roman"/>
            </a:endParaRPr>
          </a:p>
          <a:p>
            <a:pPr marL="299085" marR="17145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observed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confirm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operates </a:t>
            </a:r>
            <a:r>
              <a:rPr sz="1800" dirty="0">
                <a:latin typeface="Times New Roman"/>
                <a:cs typeface="Times New Roman"/>
              </a:rPr>
              <a:t>efficiently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accurate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reliable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as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Times New Roman"/>
                <a:cs typeface="Times New Roman"/>
              </a:rPr>
              <a:t>intended.</a:t>
            </a:r>
            <a:endParaRPr sz="1800">
              <a:latin typeface="Times New Roman"/>
              <a:cs typeface="Times New Roman"/>
            </a:endParaRPr>
          </a:p>
          <a:p>
            <a:pPr marL="299085" marR="100965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overall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proposed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meets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objectives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delivers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effective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or </a:t>
            </a:r>
            <a:r>
              <a:rPr sz="1800" dirty="0">
                <a:latin typeface="Times New Roman"/>
                <a:cs typeface="Times New Roman"/>
              </a:rPr>
              <a:t>simulated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outcomes.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35427" y="1274699"/>
            <a:ext cx="6830695" cy="3726815"/>
          </a:xfrm>
          <a:prstGeom prst="rect">
            <a:avLst/>
          </a:prstGeom>
          <a:ln w="12700">
            <a:solidFill>
              <a:srgbClr val="41709C"/>
            </a:solidFill>
          </a:ln>
        </p:spPr>
        <p:txBody>
          <a:bodyPr vert="horz" wrap="square" lIns="0" tIns="640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45"/>
              </a:spcBef>
            </a:pPr>
            <a:endParaRPr/>
          </a:p>
          <a:p>
            <a:pPr algn="ctr">
              <a:lnSpc>
                <a:spcPct val="100000"/>
              </a:lnSpc>
            </a:pPr>
            <a:r>
              <a:rPr spc="-20" dirty="0"/>
              <a:t>THANK</a:t>
            </a:r>
            <a:r>
              <a:rPr spc="-310" dirty="0"/>
              <a:t> </a:t>
            </a:r>
            <a:r>
              <a:rPr spc="-20" dirty="0"/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1084</Words>
  <Application>Microsoft Office PowerPoint</Application>
  <PresentationFormat>Widescreen</PresentationFormat>
  <Paragraphs>157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 MT</vt:lpstr>
      <vt:lpstr>Calibri</vt:lpstr>
      <vt:lpstr>Times New Roman</vt:lpstr>
      <vt:lpstr>Wingdings</vt:lpstr>
      <vt:lpstr>Office Theme</vt:lpstr>
      <vt:lpstr>DEPARTMENT OF ELECTRONICS AND COMMUNICATION ENGINEERING</vt:lpstr>
      <vt:lpstr>PROBLEM STATEMENT</vt:lpstr>
      <vt:lpstr>OBJECTIVES</vt:lpstr>
      <vt:lpstr>ABSTRACT</vt:lpstr>
      <vt:lpstr>PROPOSED METHODOLOGY</vt:lpstr>
      <vt:lpstr>PROPOSED METHODOLOGY</vt:lpstr>
      <vt:lpstr>INTRODUCTION</vt:lpstr>
      <vt:lpstr>LITERATURE REVIEW</vt:lpstr>
      <vt:lpstr>EXISTING METHODOLOGY</vt:lpstr>
      <vt:lpstr>TECHNOLOGY USED</vt:lpstr>
      <vt:lpstr>BLOCK DIAGRAM OF PROPOSED METHODOLOGY</vt:lpstr>
      <vt:lpstr>CIRCUIT DIAGRAM</vt:lpstr>
      <vt:lpstr>INNOVATIVE ASPECTS AND BENEFITS</vt:lpstr>
      <vt:lpstr>WORK MODULE COMPLETION STATUS (HARDWARE)</vt:lpstr>
      <vt:lpstr>WORK MODULE COMPLETION STATUS (SOFTWARE)</vt:lpstr>
      <vt:lpstr>WORK MODULE COMPLETION STATUS (SOFTWARE)</vt:lpstr>
      <vt:lpstr>RESULTS AND DISCUSSION</vt:lpstr>
      <vt:lpstr>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kavya v</cp:lastModifiedBy>
  <cp:revision>2</cp:revision>
  <dcterms:created xsi:type="dcterms:W3CDTF">2026-05-06T04:16:47Z</dcterms:created>
  <dcterms:modified xsi:type="dcterms:W3CDTF">2026-05-06T05:10:30Z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2026-05-06T00:00:00Z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2026-05-06T00:00:00Z</vt:filetime>
  </property>
  <property fmtid="{D5CDD505-2E9C-101B-9397-08002B2CF9AE}" pid="6" name="Producer">
    <vt:lpwstr>Microsoft® PowerPoint® 2021</vt:lpwstr>
  </property>
</Properties>
</file>